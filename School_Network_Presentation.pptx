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D4ED8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132320" y="457200"/>
            <a:ext cx="2926080" cy="2926080"/>
          </a:xfrm>
          <a:prstGeom prst="ellipse">
            <a:avLst/>
          </a:prstGeom>
          <a:solidFill>
            <a:srgbClr val="3B82F6">
              <a:alpha val="20000"/>
            </a:srgbClr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371600"/>
            <a:ext cx="6400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Network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274320" y="2103120"/>
            <a:ext cx="6400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Sharing School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74320" y="2926080"/>
            <a:ext cx="6858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Internet-Independent Educational Network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74320" y="365760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D4ED8">
              <a:alpha val="8000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274320" y="365760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F"/>
                </a:solidFill>
              </a:rPr>
              <a:t>GNS3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719072" y="365760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0D9488">
              <a:alpha val="80000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1719072" y="365760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F"/>
                </a:solidFill>
              </a:rPr>
              <a:t>Cisco IOS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3824" y="365760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59E0B">
              <a:alpha val="80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3163824" y="365760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F"/>
                </a:solidFill>
              </a:rPr>
              <a:t>Ubuntu 24.04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08576" y="365760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3B82F6">
              <a:alpha val="80000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4608576" y="365760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F"/>
                </a:solidFill>
              </a:rPr>
              <a:t>Moodle LMS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53328" y="365760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4B8A6">
              <a:alpha val="80000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6053328" y="365760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F"/>
                </a:solidFill>
              </a:rPr>
              <a:t>VLAN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498080" y="365760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F4444">
              <a:alpha val="8000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7498080" y="365760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F"/>
                </a:solidFill>
              </a:rPr>
              <a:t>ACL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A4E"/>
          </a:solidFill>
        </p:spPr>
      </p:sp>
      <p:sp>
        <p:nvSpPr>
          <p:cNvPr id="22" name="Text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Computer Networks Project  •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804672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5720" cy="80467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6" name="Shape 4"/>
          <p:cNvSpPr/>
          <p:nvPr/>
        </p:nvSpPr>
        <p:spPr>
          <a:xfrm>
            <a:off x="475488" y="10241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D4ED8">
              <a:alpha val="80000"/>
            </a:srgbClr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0607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8686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96112" y="107899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6112" y="1335024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Goals, motivation, and problem statement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822960"/>
            <a:ext cx="4114800" cy="804672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822960"/>
            <a:ext cx="45720" cy="80467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3" name="Shape 10"/>
          <p:cNvSpPr/>
          <p:nvPr/>
        </p:nvSpPr>
        <p:spPr>
          <a:xfrm>
            <a:off x="4864608" y="10241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D9488">
              <a:alpha val="80000"/>
            </a:srgbClr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06070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85232" y="8686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285232" y="107899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Topology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285232" y="1335024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Architecture, VLANs, and device layout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65760" y="1783080"/>
            <a:ext cx="4114800" cy="804672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1783080"/>
            <a:ext cx="45720" cy="80467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0" name="Shape 16"/>
          <p:cNvSpPr/>
          <p:nvPr/>
        </p:nvSpPr>
        <p:spPr>
          <a:xfrm>
            <a:off x="475488" y="19842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59E0B">
              <a:alpha val="80000"/>
            </a:srgbClr>
          </a:solidFill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02082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6112" y="1828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96112" y="203911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Router &amp; Switch Config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96112" y="2295144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Inter-VLAN routing, DHCP, and ACL setup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754880" y="1783080"/>
            <a:ext cx="4114800" cy="804672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54880" y="1783080"/>
            <a:ext cx="45720" cy="804672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7" name="Shape 22"/>
          <p:cNvSpPr/>
          <p:nvPr/>
        </p:nvSpPr>
        <p:spPr>
          <a:xfrm>
            <a:off x="4864608" y="19842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B82F6">
              <a:alpha val="80000"/>
            </a:srgbClr>
          </a:solidFill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020824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85232" y="1828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04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285232" y="203911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 Services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285232" y="2295144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DNS, DHCP, Apache, Samba, FTP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65760" y="2743200"/>
            <a:ext cx="4114800" cy="804672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65760" y="2743200"/>
            <a:ext cx="45720" cy="804672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4" name="Shape 28"/>
          <p:cNvSpPr/>
          <p:nvPr/>
        </p:nvSpPr>
        <p:spPr>
          <a:xfrm>
            <a:off x="475488" y="29443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4B8A6">
              <a:alpha val="80000"/>
            </a:srgbClr>
          </a:solidFill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2980944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96112" y="2788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05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896112" y="299923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Moodle LMS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896112" y="3255264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E-learning platform on local network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4754880" y="2743200"/>
            <a:ext cx="4114800" cy="804672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754880" y="2743200"/>
            <a:ext cx="45720" cy="80467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1" name="Shape 34"/>
          <p:cNvSpPr/>
          <p:nvPr/>
        </p:nvSpPr>
        <p:spPr>
          <a:xfrm>
            <a:off x="4864608" y="29443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F4444">
              <a:alpha val="80000"/>
            </a:srgbClr>
          </a:solidFill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2980944"/>
            <a:ext cx="256032" cy="25603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285232" y="2788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06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5285232" y="299923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— ACL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5285232" y="3255264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Network access control and isolation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365760" y="3703320"/>
            <a:ext cx="4114800" cy="804672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365760" y="3703320"/>
            <a:ext cx="45720" cy="804672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48" name="Shape 40"/>
          <p:cNvSpPr/>
          <p:nvPr/>
        </p:nvSpPr>
        <p:spPr>
          <a:xfrm>
            <a:off x="475488" y="390448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60A5FA">
              <a:alpha val="80000"/>
            </a:srgbClr>
          </a:solidFill>
        </p:spPr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3941064"/>
            <a:ext cx="256032" cy="256032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896112" y="37490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</a:rPr>
              <a:t>07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896112" y="395935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Portals</a:t>
            </a:r>
            <a:endParaRPr lang="en-US" sz="1300" dirty="0"/>
          </a:p>
        </p:txBody>
      </p:sp>
      <p:sp>
        <p:nvSpPr>
          <p:cNvPr id="52" name="Text 43"/>
          <p:cNvSpPr/>
          <p:nvPr/>
        </p:nvSpPr>
        <p:spPr>
          <a:xfrm>
            <a:off x="896112" y="4215384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Admin, Teacher, and Student interfaces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4754880" y="3703320"/>
            <a:ext cx="4114800" cy="804672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4754880" y="3703320"/>
            <a:ext cx="45720" cy="80467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5" name="Shape 46"/>
          <p:cNvSpPr/>
          <p:nvPr/>
        </p:nvSpPr>
        <p:spPr>
          <a:xfrm>
            <a:off x="4864608" y="390448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D9488">
              <a:alpha val="80000"/>
            </a:srgbClr>
          </a:solidFill>
        </p:spPr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1184" y="3941064"/>
            <a:ext cx="256032" cy="256032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5285232" y="37490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08</a:t>
            </a:r>
            <a:endParaRPr lang="en-US" sz="1000" dirty="0"/>
          </a:p>
        </p:txBody>
      </p:sp>
      <p:sp>
        <p:nvSpPr>
          <p:cNvPr id="58" name="Text 48"/>
          <p:cNvSpPr/>
          <p:nvPr/>
        </p:nvSpPr>
        <p:spPr>
          <a:xfrm>
            <a:off x="5285232" y="395935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Conclusion</a:t>
            </a:r>
            <a:endParaRPr lang="en-US" sz="1300" dirty="0"/>
          </a:p>
        </p:txBody>
      </p:sp>
      <p:sp>
        <p:nvSpPr>
          <p:cNvPr id="59" name="Text 49"/>
          <p:cNvSpPr/>
          <p:nvPr/>
        </p:nvSpPr>
        <p:spPr>
          <a:xfrm>
            <a:off x="5285232" y="4215384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Testing outcomes and key achievements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365760" y="128016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</p:spPr>
      </p:sp>
      <p:sp>
        <p:nvSpPr>
          <p:cNvPr id="4" name="Text 2"/>
          <p:cNvSpPr/>
          <p:nvPr/>
        </p:nvSpPr>
        <p:spPr>
          <a:xfrm>
            <a:off x="365760" y="12801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F"/>
                </a:solidFill>
              </a:rPr>
              <a:t>01 —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8839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schools lack reliable internet yet need digital tools for modern education.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services — LMS, file sharing, DNS — require internet in most setups.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creates a digital divide that disadvantages students in underconnected regions.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66770"/>
            <a:ext cx="3657600" cy="18288"/>
          </a:xfrm>
          <a:prstGeom prst="rect">
            <a:avLst/>
          </a:prstGeom>
          <a:solidFill>
            <a:srgbClr val="1D4ED8">
              <a:alpha val="7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457200" y="3300857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3657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complete, self-contained Local Area Network that delivers all essential digital educational services — entirely without internet.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65960" cy="1554480"/>
          </a:xfrm>
          <a:prstGeom prst="rect">
            <a:avLst/>
          </a:prstGeom>
          <a:solidFill>
            <a:srgbClr val="162F52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1965960" cy="54864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4" name="Text 12"/>
          <p:cNvSpPr/>
          <p:nvPr/>
        </p:nvSpPr>
        <p:spPr>
          <a:xfrm>
            <a:off x="4663440" y="123444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D4E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663440" y="210312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VLANs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1097280"/>
            <a:ext cx="1965960" cy="1554480"/>
          </a:xfrm>
          <a:prstGeom prst="rect">
            <a:avLst/>
          </a:prstGeom>
          <a:solidFill>
            <a:srgbClr val="162F52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097280"/>
            <a:ext cx="196596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8" name="Text 16"/>
          <p:cNvSpPr/>
          <p:nvPr/>
        </p:nvSpPr>
        <p:spPr>
          <a:xfrm>
            <a:off x="6858000" y="123444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6+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858000" y="210312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Services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1965960" cy="1554480"/>
          </a:xfrm>
          <a:prstGeom prst="rect">
            <a:avLst/>
          </a:prstGeom>
          <a:solidFill>
            <a:srgbClr val="162F52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926080"/>
            <a:ext cx="196596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2" name="Text 20"/>
          <p:cNvSpPr/>
          <p:nvPr/>
        </p:nvSpPr>
        <p:spPr>
          <a:xfrm>
            <a:off x="4663440" y="306324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4663440" y="393192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No Internet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2926080"/>
            <a:ext cx="1965960" cy="1554480"/>
          </a:xfrm>
          <a:prstGeom prst="rect">
            <a:avLst/>
          </a:prstGeom>
          <a:solidFill>
            <a:srgbClr val="162F52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2926080"/>
            <a:ext cx="196596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6" name="Text 24"/>
          <p:cNvSpPr/>
          <p:nvPr/>
        </p:nvSpPr>
        <p:spPr>
          <a:xfrm>
            <a:off x="6858000" y="306324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6858000" y="393192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User Roles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Shape 1"/>
          <p:cNvSpPr/>
          <p:nvPr/>
        </p:nvSpPr>
        <p:spPr>
          <a:xfrm>
            <a:off x="365760" y="128016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365760" y="12801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F"/>
                </a:solidFill>
              </a:rPr>
              <a:t>02 — Topology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Topology &amp; VLAN 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0" y="1005840"/>
            <a:ext cx="219456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4448" y="107899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05072" y="105156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F"/>
                </a:solidFill>
              </a:rPr>
              <a:t>MainRouter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0F6FF"/>
                </a:solidFill>
              </a:rPr>
              <a:t>Cisco IOS — R1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66160" y="1874520"/>
            <a:ext cx="2011680" cy="548640"/>
          </a:xfrm>
          <a:prstGeom prst="rect">
            <a:avLst/>
          </a:prstGeom>
          <a:solidFill>
            <a:srgbClr val="162F52"/>
          </a:solidFill>
          <a:ln w="1016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66160" y="18745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</a:rPr>
              <a:t>MainSwitch (Core)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0" y="1645920"/>
            <a:ext cx="0" cy="228600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1097280" y="2668905"/>
            <a:ext cx="0" cy="502920"/>
          </a:xfrm>
          <a:prstGeom prst="line">
            <a:avLst/>
          </a:prstGeom>
          <a:noFill/>
          <a:ln w="15240">
            <a:solidFill>
              <a:srgbClr val="EF4444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182880" y="3171825"/>
            <a:ext cx="2011680" cy="502920"/>
          </a:xfrm>
          <a:prstGeom prst="rect">
            <a:avLst/>
          </a:prstGeom>
          <a:solidFill>
            <a:srgbClr val="162F5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82880" y="3171825"/>
            <a:ext cx="201168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5" name="Text 12"/>
          <p:cNvSpPr/>
          <p:nvPr/>
        </p:nvSpPr>
        <p:spPr>
          <a:xfrm>
            <a:off x="182880" y="3244977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F"/>
                </a:solidFill>
              </a:rPr>
              <a:t>SW-Admin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3721608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EF4444">
              <a:alpha val="75000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685800" y="3721608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F6FF"/>
                </a:solidFill>
              </a:rPr>
              <a:t>VLAN 10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74320" y="4151757"/>
            <a:ext cx="1828800" cy="685800"/>
          </a:xfrm>
          <a:prstGeom prst="rect">
            <a:avLst/>
          </a:prstGeom>
          <a:solidFill>
            <a:srgbClr val="0F2A4E"/>
          </a:solidFill>
          <a:ln w="63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215384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" y="4251833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</a:rPr>
              <a:t>PC-Admin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47472" y="454456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192.168.10.0/24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3337560" y="2668905"/>
            <a:ext cx="0" cy="502920"/>
          </a:xfrm>
          <a:prstGeom prst="line">
            <a:avLst/>
          </a:prstGeom>
          <a:noFill/>
          <a:ln w="15240">
            <a:solidFill>
              <a:srgbClr val="1D4ED8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>
            <a:off x="2423160" y="3171825"/>
            <a:ext cx="2011680" cy="502920"/>
          </a:xfrm>
          <a:prstGeom prst="rect">
            <a:avLst/>
          </a:prstGeom>
          <a:solidFill>
            <a:srgbClr val="162F52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2423160" y="3171825"/>
            <a:ext cx="2011680" cy="54864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25" name="Text 21"/>
          <p:cNvSpPr/>
          <p:nvPr/>
        </p:nvSpPr>
        <p:spPr>
          <a:xfrm>
            <a:off x="2423160" y="3244977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F"/>
                </a:solidFill>
              </a:rPr>
              <a:t>SW-Teachers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926080" y="3721608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1D4ED8">
              <a:alpha val="75000"/>
            </a:srgbClr>
          </a:solidFill>
        </p:spPr>
      </p:sp>
      <p:sp>
        <p:nvSpPr>
          <p:cNvPr id="27" name="Text 23"/>
          <p:cNvSpPr/>
          <p:nvPr/>
        </p:nvSpPr>
        <p:spPr>
          <a:xfrm>
            <a:off x="2926080" y="3721608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F6FF"/>
                </a:solidFill>
              </a:rPr>
              <a:t>VLAN 20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2514600" y="4151757"/>
            <a:ext cx="1828800" cy="68580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4215384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017647" y="4251833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</a:rPr>
              <a:t>PC-Teachers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2587752" y="454456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192.168.20.0/24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5577840" y="2700020"/>
            <a:ext cx="0" cy="50292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</a:ln>
        </p:spPr>
      </p:sp>
      <p:sp>
        <p:nvSpPr>
          <p:cNvPr id="33" name="Shape 28"/>
          <p:cNvSpPr/>
          <p:nvPr/>
        </p:nvSpPr>
        <p:spPr>
          <a:xfrm>
            <a:off x="4663440" y="3171825"/>
            <a:ext cx="2011680" cy="502920"/>
          </a:xfrm>
          <a:prstGeom prst="rect">
            <a:avLst/>
          </a:prstGeom>
          <a:solidFill>
            <a:srgbClr val="162F52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663440" y="3171825"/>
            <a:ext cx="201168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5" name="Text 30"/>
          <p:cNvSpPr/>
          <p:nvPr/>
        </p:nvSpPr>
        <p:spPr>
          <a:xfrm>
            <a:off x="4663440" y="3244977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F"/>
                </a:solidFill>
              </a:rPr>
              <a:t>SW-Students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5166360" y="3721608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F59E0B">
              <a:alpha val="75000"/>
            </a:srgbClr>
          </a:solidFill>
        </p:spPr>
      </p:sp>
      <p:sp>
        <p:nvSpPr>
          <p:cNvPr id="37" name="Text 32"/>
          <p:cNvSpPr/>
          <p:nvPr/>
        </p:nvSpPr>
        <p:spPr>
          <a:xfrm>
            <a:off x="5147945" y="3721608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F6FF"/>
                </a:solidFill>
              </a:rPr>
              <a:t>VLAN 30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4754880" y="4151757"/>
            <a:ext cx="1828800" cy="685800"/>
          </a:xfrm>
          <a:prstGeom prst="rect">
            <a:avLst/>
          </a:prstGeom>
          <a:solidFill>
            <a:srgbClr val="0F2A4E"/>
          </a:solidFill>
          <a:ln w="63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4215384"/>
            <a:ext cx="320040" cy="32004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303647" y="4251833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</a:rPr>
              <a:t>PC-Students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4828032" y="454456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192.168.30.0/24</a:t>
            </a:r>
            <a:endParaRPr lang="en-US" sz="750" dirty="0"/>
          </a:p>
        </p:txBody>
      </p:sp>
      <p:sp>
        <p:nvSpPr>
          <p:cNvPr id="42" name="Shape 36"/>
          <p:cNvSpPr/>
          <p:nvPr/>
        </p:nvSpPr>
        <p:spPr>
          <a:xfrm>
            <a:off x="7818755" y="2668905"/>
            <a:ext cx="0" cy="502920"/>
          </a:xfrm>
          <a:prstGeom prst="line">
            <a:avLst/>
          </a:prstGeom>
          <a:noFill/>
          <a:ln w="15240">
            <a:solidFill>
              <a:srgbClr val="0D9488"/>
            </a:solidFill>
            <a:prstDash val="dash"/>
          </a:ln>
        </p:spPr>
      </p:sp>
      <p:sp>
        <p:nvSpPr>
          <p:cNvPr id="43" name="Shape 37"/>
          <p:cNvSpPr/>
          <p:nvPr/>
        </p:nvSpPr>
        <p:spPr>
          <a:xfrm>
            <a:off x="6903720" y="3171825"/>
            <a:ext cx="2011680" cy="502920"/>
          </a:xfrm>
          <a:prstGeom prst="rect">
            <a:avLst/>
          </a:prstGeom>
          <a:solidFill>
            <a:srgbClr val="162F5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6903720" y="3171825"/>
            <a:ext cx="201168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5" name="Text 39"/>
          <p:cNvSpPr/>
          <p:nvPr/>
        </p:nvSpPr>
        <p:spPr>
          <a:xfrm>
            <a:off x="6903720" y="3244977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F"/>
                </a:solidFill>
              </a:rPr>
              <a:t>SW-Servers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06640" y="3721608"/>
            <a:ext cx="1005840" cy="228600"/>
          </a:xfrm>
          <a:prstGeom prst="roundRect">
            <a:avLst>
              <a:gd name="adj" fmla="val 24000"/>
            </a:avLst>
          </a:prstGeom>
          <a:solidFill>
            <a:srgbClr val="0D9488">
              <a:alpha val="75000"/>
            </a:srgbClr>
          </a:solidFill>
        </p:spPr>
      </p:sp>
      <p:sp>
        <p:nvSpPr>
          <p:cNvPr id="47" name="Text 41"/>
          <p:cNvSpPr/>
          <p:nvPr/>
        </p:nvSpPr>
        <p:spPr>
          <a:xfrm>
            <a:off x="7406640" y="3721608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F6FF"/>
                </a:solidFill>
              </a:rPr>
              <a:t>VLAN 40</a:t>
            </a:r>
            <a:endParaRPr lang="en-US" sz="800" dirty="0"/>
          </a:p>
        </p:txBody>
      </p:sp>
      <p:sp>
        <p:nvSpPr>
          <p:cNvPr id="48" name="Shape 42"/>
          <p:cNvSpPr/>
          <p:nvPr/>
        </p:nvSpPr>
        <p:spPr>
          <a:xfrm>
            <a:off x="6949440" y="4151757"/>
            <a:ext cx="1828800" cy="685800"/>
          </a:xfrm>
          <a:prstGeom prst="rect">
            <a:avLst/>
          </a:prstGeom>
          <a:solidFill>
            <a:srgbClr val="0F2A4E"/>
          </a:solidFill>
          <a:ln w="63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727" y="4215384"/>
            <a:ext cx="320040" cy="32004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7498207" y="4251833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</a:rPr>
              <a:t>DNS+Samba+Moodle</a:t>
            </a:r>
            <a:endParaRPr lang="en-US" sz="900" dirty="0"/>
          </a:p>
        </p:txBody>
      </p:sp>
      <p:sp>
        <p:nvSpPr>
          <p:cNvPr id="51" name="Text 44"/>
          <p:cNvSpPr/>
          <p:nvPr/>
        </p:nvSpPr>
        <p:spPr>
          <a:xfrm>
            <a:off x="6995287" y="454456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192.168.40.0/24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2743200" y="1901952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94A3B8"/>
                </a:solidFill>
              </a:rPr>
              <a:t>Trunk (dot1Q 802.1Q)</a:t>
            </a:r>
            <a:endParaRPr lang="en-US" sz="750" dirty="0"/>
          </a:p>
        </p:txBody>
      </p:sp>
      <p:sp>
        <p:nvSpPr>
          <p:cNvPr id="53" name="Shape 8"/>
          <p:cNvSpPr/>
          <p:nvPr/>
        </p:nvSpPr>
        <p:spPr>
          <a:xfrm rot="5400000" flipH="1">
            <a:off x="4443095" y="-676275"/>
            <a:ext cx="30480" cy="6721475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</p:sp>
      <p:sp>
        <p:nvSpPr>
          <p:cNvPr id="55" name="Shape 8"/>
          <p:cNvSpPr/>
          <p:nvPr/>
        </p:nvSpPr>
        <p:spPr>
          <a:xfrm>
            <a:off x="4572000" y="2471420"/>
            <a:ext cx="0" cy="228600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Shape 1"/>
          <p:cNvSpPr/>
          <p:nvPr/>
        </p:nvSpPr>
        <p:spPr>
          <a:xfrm>
            <a:off x="365760" y="128016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365760" y="12801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F"/>
                </a:solidFill>
              </a:rPr>
              <a:t>03 — Configuration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Router — Inter-VLAN, DHCP &amp; ACL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931920" cy="182880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3931920" cy="54864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1704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</a:rPr>
              <a:t>Router-on-a-Stick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" y="1645920"/>
            <a:ext cx="146304" cy="14630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1" name="Text 8"/>
          <p:cNvSpPr/>
          <p:nvPr/>
        </p:nvSpPr>
        <p:spPr>
          <a:xfrm>
            <a:off x="640080" y="1627632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Single physical interface (Fa0/0)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1938528"/>
            <a:ext cx="146304" cy="14630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3" name="Text 10"/>
          <p:cNvSpPr/>
          <p:nvPr/>
        </p:nvSpPr>
        <p:spPr>
          <a:xfrm>
            <a:off x="640080" y="1920240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4 sub-interfaces — one per VLAN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" y="2231136"/>
            <a:ext cx="146304" cy="14630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5" name="Text 12"/>
          <p:cNvSpPr/>
          <p:nvPr/>
        </p:nvSpPr>
        <p:spPr>
          <a:xfrm>
            <a:off x="640080" y="2212848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dot1Q encapsulation per VLAN ID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" y="2523744"/>
            <a:ext cx="146304" cy="14630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7" name="Text 14"/>
          <p:cNvSpPr/>
          <p:nvPr/>
        </p:nvSpPr>
        <p:spPr>
          <a:xfrm>
            <a:off x="640080" y="2505456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Each sub-interface = gateway for its VLAN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89120" y="1051560"/>
            <a:ext cx="2103120" cy="182880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89120" y="1051560"/>
            <a:ext cx="210312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0" name="Text 17"/>
          <p:cNvSpPr/>
          <p:nvPr/>
        </p:nvSpPr>
        <p:spPr>
          <a:xfrm>
            <a:off x="4434840" y="1143000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DHCP Pools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434840" y="1572768"/>
            <a:ext cx="1920240" cy="347472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62272" y="159105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ADMIN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94960" y="159105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192.168.10.x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434840" y="1984248"/>
            <a:ext cx="1920240" cy="347472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62272" y="200253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TEACHERS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94960" y="200253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192.168.20.x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434840" y="2395728"/>
            <a:ext cx="1920240" cy="347472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62272" y="241401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STUDENTS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94960" y="241401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192.168.30.x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675120" y="1051560"/>
            <a:ext cx="2194560" cy="182880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75120" y="1051560"/>
            <a:ext cx="2194560" cy="54864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143000"/>
            <a:ext cx="167640" cy="16764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117715" y="1106170"/>
            <a:ext cx="1308735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A5A5"/>
                </a:solidFill>
              </a:rPr>
              <a:t>ACL Security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720840" y="1334008"/>
            <a:ext cx="2057400" cy="329184"/>
          </a:xfrm>
          <a:prstGeom prst="rect">
            <a:avLst/>
          </a:prstGeom>
          <a:solidFill>
            <a:srgbClr val="FCA5A5">
              <a:alpha val="18000"/>
            </a:srgbClr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766560" y="1352296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CA5A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BLOCK_STUDENTS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6766560" y="1498600"/>
            <a:ext cx="1965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Applied on Fa0/0.30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6720840" y="1727200"/>
            <a:ext cx="2057400" cy="329184"/>
          </a:xfrm>
          <a:prstGeom prst="rect">
            <a:avLst/>
          </a:prstGeom>
          <a:solidFill>
            <a:srgbClr val="EF4444">
              <a:alpha val="18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766560" y="1745488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DENY VLAN30→VLAN10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6766560" y="1891792"/>
            <a:ext cx="1965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No Admin access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6720840" y="2120392"/>
            <a:ext cx="2057400" cy="329184"/>
          </a:xfrm>
          <a:prstGeom prst="rect">
            <a:avLst/>
          </a:prstGeom>
          <a:solidFill>
            <a:srgbClr val="EF4444">
              <a:alpha val="18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766560" y="2138680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DENY VLAN30→VLAN20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6766560" y="2284984"/>
            <a:ext cx="1965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No Teacher access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6720840" y="2513584"/>
            <a:ext cx="2057400" cy="329184"/>
          </a:xfrm>
          <a:prstGeom prst="rect">
            <a:avLst/>
          </a:prstGeom>
          <a:solidFill>
            <a:srgbClr val="0D9488">
              <a:alpha val="18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766560" y="2531872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PERMIT any any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6766560" y="2678176"/>
            <a:ext cx="1965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Servers OK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274320" y="3017520"/>
            <a:ext cx="8595360" cy="1783080"/>
          </a:xfrm>
          <a:prstGeom prst="rect">
            <a:avLst/>
          </a:prstGeom>
          <a:solidFill>
            <a:srgbClr val="0A1628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Text 43"/>
          <p:cNvSpPr/>
          <p:nvPr/>
        </p:nvSpPr>
        <p:spPr>
          <a:xfrm>
            <a:off x="411480" y="3090672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Key Cisco IOS Commands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411480" y="3429000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R1(config)# interface FastEthernet0/0.10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411480" y="3685032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R1(config-subif)# encapsulation dot1Q 10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411480" y="3941064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R1(config-subif)# ip address 192.168.10.1 255.255.255.0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411480" y="4197096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R1(config)# ip access-list extended BLOCK_STUDENTS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411480" y="4453128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R1(config-ext-nacl)# deny ip 192.168.30.0 0.0.0.255 192.168.10.0 0.0.0.255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365760" y="128016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</p:spPr>
      </p:sp>
      <p:sp>
        <p:nvSpPr>
          <p:cNvPr id="4" name="Text 2"/>
          <p:cNvSpPr/>
          <p:nvPr/>
        </p:nvSpPr>
        <p:spPr>
          <a:xfrm>
            <a:off x="365760" y="12801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F"/>
                </a:solidFill>
              </a:rPr>
              <a:t>04 — Services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 Services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361188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206240" cy="54864"/>
          </a:xfrm>
          <a:prstGeom prst="rect">
            <a:avLst/>
          </a:prstGeom>
          <a:solidFill>
            <a:srgbClr val="1D4ED8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785" y="1141730"/>
            <a:ext cx="26670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17043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192.168.40.10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0392" y="1276731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Primary Server — DNS-DHCP-WEB-Moodle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1517650"/>
            <a:ext cx="3886200" cy="548640"/>
          </a:xfrm>
          <a:prstGeom prst="rect">
            <a:avLst/>
          </a:prstGeom>
          <a:solidFill>
            <a:srgbClr val="1D4ED8">
              <a:alpha val="15000"/>
            </a:srgbClr>
          </a:solidFill>
          <a:ln w="5080">
            <a:solidFill>
              <a:srgbClr val="1D4ED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909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6968" y="156337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</a:rPr>
              <a:t>Apache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86968" y="179197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School intranet portal on port 80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65760" y="2157730"/>
            <a:ext cx="3886200" cy="548640"/>
          </a:xfrm>
          <a:prstGeom prst="rect">
            <a:avLst/>
          </a:prstGeom>
          <a:solidFill>
            <a:srgbClr val="1D4ED8">
              <a:alpha val="15000"/>
            </a:srgbClr>
          </a:solidFill>
          <a:ln w="5080">
            <a:solidFill>
              <a:srgbClr val="1D4ED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917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" y="220345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</a:rPr>
              <a:t>BIND9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86968" y="243205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DNS server for school.local on port 53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65760" y="2797810"/>
            <a:ext cx="3886200" cy="548640"/>
          </a:xfrm>
          <a:prstGeom prst="rect">
            <a:avLst/>
          </a:prstGeom>
          <a:solidFill>
            <a:srgbClr val="1D4ED8">
              <a:alpha val="15000"/>
            </a:srgbClr>
          </a:solidFill>
          <a:ln w="5080">
            <a:solidFill>
              <a:srgbClr val="1D4ED8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8925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6968" y="284353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</a:rPr>
              <a:t>ISC-DHCP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86968" y="307213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IP allocation for VLANs 10, 20, 30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365760" y="3437890"/>
            <a:ext cx="3886200" cy="548640"/>
          </a:xfrm>
          <a:prstGeom prst="rect">
            <a:avLst/>
          </a:prstGeom>
          <a:solidFill>
            <a:srgbClr val="1D4ED8">
              <a:alpha val="15000"/>
            </a:srgbClr>
          </a:solidFill>
          <a:ln w="5080">
            <a:solidFill>
              <a:srgbClr val="1D4ED8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52933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6968" y="348361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</a:rPr>
              <a:t>Moodle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886968" y="371221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Full LMS on http://moodle.school.local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365760" y="4077970"/>
            <a:ext cx="3886200" cy="548640"/>
          </a:xfrm>
          <a:prstGeom prst="rect">
            <a:avLst/>
          </a:prstGeom>
          <a:solidFill>
            <a:srgbClr val="1D4ED8">
              <a:alpha val="15000"/>
            </a:srgbClr>
          </a:solidFill>
          <a:ln w="5080">
            <a:solidFill>
              <a:srgbClr val="1D4ED8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6941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86968" y="412369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</a:rPr>
              <a:t>MySQL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886968" y="435229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Database backend for Moodle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4846320" y="1051560"/>
            <a:ext cx="4206240" cy="361188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846320" y="1051560"/>
            <a:ext cx="4206240" cy="54864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912" y="1170432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440680" y="117043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192.168.40.20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5010912" y="1408176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Secondary Server — Samba-FTP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4983480" y="1828800"/>
            <a:ext cx="3886200" cy="548640"/>
          </a:xfrm>
          <a:prstGeom prst="rect">
            <a:avLst/>
          </a:prstGeom>
          <a:solidFill>
            <a:srgbClr val="0D9488">
              <a:alpha val="15000"/>
            </a:srgbClr>
          </a:solidFill>
          <a:ln w="5080">
            <a:solidFill>
              <a:srgbClr val="0D9488"/>
            </a:solidFill>
            <a:prstDash val="solid"/>
          </a:ln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920240"/>
            <a:ext cx="347472" cy="34747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504688" y="187452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</a:rPr>
              <a:t>Samba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5504688" y="21031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[Shared] [Teachers] [Students] shares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4983480" y="2468880"/>
            <a:ext cx="3886200" cy="548640"/>
          </a:xfrm>
          <a:prstGeom prst="rect">
            <a:avLst/>
          </a:prstGeom>
          <a:solidFill>
            <a:srgbClr val="0D9488">
              <a:alpha val="15000"/>
            </a:srgbClr>
          </a:solidFill>
          <a:ln w="5080">
            <a:solidFill>
              <a:srgbClr val="0D9488"/>
            </a:solidFill>
            <a:prstDash val="solid"/>
          </a:ln>
        </p:spPr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560320"/>
            <a:ext cx="347472" cy="347472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504688" y="251460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</a:rPr>
              <a:t>vsftpd</a:t>
            </a:r>
            <a:endParaRPr lang="en-US" sz="1100" dirty="0"/>
          </a:p>
        </p:txBody>
      </p:sp>
      <p:sp>
        <p:nvSpPr>
          <p:cNvPr id="43" name="Text 32"/>
          <p:cNvSpPr/>
          <p:nvPr/>
        </p:nvSpPr>
        <p:spPr>
          <a:xfrm>
            <a:off x="5504688" y="27432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FTP server on port 21, anonymous access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4983480" y="3108960"/>
            <a:ext cx="3886200" cy="548640"/>
          </a:xfrm>
          <a:prstGeom prst="rect">
            <a:avLst/>
          </a:prstGeom>
          <a:solidFill>
            <a:srgbClr val="0D9488">
              <a:alpha val="15000"/>
            </a:srgbClr>
          </a:solidFill>
          <a:ln w="5080">
            <a:solidFill>
              <a:srgbClr val="0D9488"/>
            </a:solidFill>
            <a:prstDash val="solid"/>
          </a:ln>
        </p:spPr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200400"/>
            <a:ext cx="347472" cy="347472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5504688" y="315468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</a:rPr>
              <a:t>Auth</a:t>
            </a:r>
            <a:endParaRPr lang="en-US" sz="1100" dirty="0"/>
          </a:p>
        </p:txBody>
      </p:sp>
      <p:sp>
        <p:nvSpPr>
          <p:cNvPr id="47" name="Text 35"/>
          <p:cNvSpPr/>
          <p:nvPr/>
        </p:nvSpPr>
        <p:spPr>
          <a:xfrm>
            <a:off x="5504688" y="338328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Teacher-only share with password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Shape 1"/>
          <p:cNvSpPr/>
          <p:nvPr/>
        </p:nvSpPr>
        <p:spPr>
          <a:xfrm>
            <a:off x="365760" y="128016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365760" y="12801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F"/>
                </a:solidFill>
              </a:rPr>
              <a:t>05 — Moodle LMS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Moodle 4.4 — Learning Management System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097280" cy="1097280"/>
          </a:xfrm>
          <a:prstGeom prst="ellipse">
            <a:avLst/>
          </a:prstGeom>
          <a:solidFill>
            <a:srgbClr val="F59E0B">
              <a:alpha val="80000"/>
            </a:srgbClr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70432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097280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CD3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E-Learning Without Internet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91640" y="1600200"/>
            <a:ext cx="6858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Full Moodle 4.4 LMS running entirely on the local school network at moodle.school.local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2148840"/>
            <a:ext cx="2788920" cy="105156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148840"/>
            <a:ext cx="2788920" cy="54864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2" name="Text 9"/>
          <p:cNvSpPr/>
          <p:nvPr/>
        </p:nvSpPr>
        <p:spPr>
          <a:xfrm>
            <a:off x="411480" y="225856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 Management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2551176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Create &amp; manage courses, enroll students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46120" y="2148840"/>
            <a:ext cx="2788920" cy="105156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46120" y="2148840"/>
            <a:ext cx="278892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6" name="Text 13"/>
          <p:cNvSpPr/>
          <p:nvPr/>
        </p:nvSpPr>
        <p:spPr>
          <a:xfrm>
            <a:off x="3383280" y="225856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Assignments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83280" y="2551176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Upload homework, set deadlines, grade online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17920" y="2148840"/>
            <a:ext cx="2788920" cy="105156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17920" y="2148840"/>
            <a:ext cx="278892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0" name="Text 17"/>
          <p:cNvSpPr/>
          <p:nvPr/>
        </p:nvSpPr>
        <p:spPr>
          <a:xfrm>
            <a:off x="6355080" y="225856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Quizzes &amp; Exams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55080" y="2551176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Build assessments with automatic grading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3383280"/>
            <a:ext cx="2788920" cy="105156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3383280"/>
            <a:ext cx="278892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4" name="Text 21"/>
          <p:cNvSpPr/>
          <p:nvPr/>
        </p:nvSpPr>
        <p:spPr>
          <a:xfrm>
            <a:off x="411480" y="349300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Resources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11480" y="3785616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Share PDFs, videos, documents within courses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383280"/>
            <a:ext cx="2788920" cy="105156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383280"/>
            <a:ext cx="2788920" cy="5486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28" name="Text 25"/>
          <p:cNvSpPr/>
          <p:nvPr/>
        </p:nvSpPr>
        <p:spPr>
          <a:xfrm>
            <a:off x="3383280" y="349300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 Forums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383280" y="3785616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Student-teacher interaction and peer learning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17920" y="3383280"/>
            <a:ext cx="2788920" cy="105156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217920" y="3383280"/>
            <a:ext cx="278892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2" name="Text 29"/>
          <p:cNvSpPr/>
          <p:nvPr/>
        </p:nvSpPr>
        <p:spPr>
          <a:xfrm>
            <a:off x="6355080" y="349300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 Reports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355080" y="3785616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Track student progress and performance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62F52"/>
          </a:solidFill>
        </p:spPr>
      </p:sp>
      <p:sp>
        <p:nvSpPr>
          <p:cNvPr id="35" name="Text 32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Stack:  Apache  +  PHP 8.x  +  MySQL 8.0  +  Moodle 4.4 (MOODLE_404_STABLE)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" name="Shape 1"/>
          <p:cNvSpPr/>
          <p:nvPr/>
        </p:nvSpPr>
        <p:spPr>
          <a:xfrm>
            <a:off x="365760" y="128016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EF4444"/>
          </a:solidFill>
        </p:spPr>
      </p:sp>
      <p:sp>
        <p:nvSpPr>
          <p:cNvPr id="4" name="Text 2"/>
          <p:cNvSpPr/>
          <p:nvPr/>
        </p:nvSpPr>
        <p:spPr>
          <a:xfrm>
            <a:off x="365760" y="12801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F"/>
                </a:solidFill>
              </a:rPr>
              <a:t>06 — Security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Security — ACL Enforcement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292608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206240" cy="54864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61415"/>
            <a:ext cx="280035" cy="2800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545" y="1161415"/>
            <a:ext cx="3425190" cy="252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A5A5"/>
                </a:solidFill>
              </a:rPr>
              <a:t>ACL: BLOCK_STUDENTS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316863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Applied: Fa0/0.30 — inbound direction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1572260"/>
            <a:ext cx="3931920" cy="713232"/>
          </a:xfrm>
          <a:prstGeom prst="rect">
            <a:avLst/>
          </a:prstGeom>
          <a:solidFill>
            <a:srgbClr val="EF4444">
              <a:alpha val="15000"/>
            </a:srgbClr>
          </a:solidFill>
          <a:ln w="8890">
            <a:solidFill>
              <a:srgbClr val="EF4444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2920" y="1736852"/>
            <a:ext cx="347472" cy="347472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3" name="Text 10"/>
          <p:cNvSpPr/>
          <p:nvPr/>
        </p:nvSpPr>
        <p:spPr>
          <a:xfrm>
            <a:off x="502920" y="17368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F"/>
                </a:solidFill>
              </a:rPr>
              <a:t>✕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41832" y="162712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DENY  VLAN30 → VLAN10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41832" y="191973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Students cannot access Admin VLAN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1480" y="2395220"/>
            <a:ext cx="3931920" cy="713232"/>
          </a:xfrm>
          <a:prstGeom prst="rect">
            <a:avLst/>
          </a:prstGeom>
          <a:solidFill>
            <a:srgbClr val="EF4444">
              <a:alpha val="15000"/>
            </a:srgbClr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2559812"/>
            <a:ext cx="347472" cy="347472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8" name="Text 15"/>
          <p:cNvSpPr/>
          <p:nvPr/>
        </p:nvSpPr>
        <p:spPr>
          <a:xfrm>
            <a:off x="502920" y="255981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F"/>
                </a:solidFill>
              </a:rPr>
              <a:t>✕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41832" y="245008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DENY  VLAN30 → VLAN20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41832" y="274269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Students cannot access Teacher VLAN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11480" y="3218180"/>
            <a:ext cx="3931920" cy="713232"/>
          </a:xfrm>
          <a:prstGeom prst="rect">
            <a:avLst/>
          </a:prstGeom>
          <a:solidFill>
            <a:srgbClr val="0D9488">
              <a:alpha val="15000"/>
            </a:srgbClr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382772"/>
            <a:ext cx="347472" cy="34747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3" name="Text 20"/>
          <p:cNvSpPr/>
          <p:nvPr/>
        </p:nvSpPr>
        <p:spPr>
          <a:xfrm>
            <a:off x="502920" y="33827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F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41832" y="327304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PERMIT any → any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41832" y="356565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All other traffic is allowed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1051560"/>
            <a:ext cx="4206240" cy="292608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63440" y="1051560"/>
            <a:ext cx="420624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8" name="Text 25"/>
          <p:cNvSpPr/>
          <p:nvPr/>
        </p:nvSpPr>
        <p:spPr>
          <a:xfrm>
            <a:off x="4800600" y="1170432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Live Test Results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800600" y="1471930"/>
            <a:ext cx="1320165" cy="258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PC-Students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379845" y="1471930"/>
            <a:ext cx="1815465" cy="258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→ 192.168.10.1 (Admin)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237855" y="1460500"/>
            <a:ext cx="412750" cy="185420"/>
          </a:xfrm>
          <a:prstGeom prst="roundRect">
            <a:avLst>
              <a:gd name="adj" fmla="val 16667"/>
            </a:avLst>
          </a:prstGeom>
          <a:solidFill>
            <a:srgbClr val="EF4444">
              <a:alpha val="80000"/>
            </a:srgbClr>
          </a:solidFill>
        </p:spPr>
      </p:sp>
      <p:sp>
        <p:nvSpPr>
          <p:cNvPr id="32" name="Text 29"/>
          <p:cNvSpPr/>
          <p:nvPr/>
        </p:nvSpPr>
        <p:spPr>
          <a:xfrm>
            <a:off x="8237855" y="1460500"/>
            <a:ext cx="412750" cy="185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✕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800600" y="1825625"/>
            <a:ext cx="1320165" cy="258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PC-Students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379845" y="1825625"/>
            <a:ext cx="1815465" cy="258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→ 192.168.20.1 (Teacher)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28330" y="1883410"/>
            <a:ext cx="412750" cy="185420"/>
          </a:xfrm>
          <a:prstGeom prst="roundRect">
            <a:avLst>
              <a:gd name="adj" fmla="val 16667"/>
            </a:avLst>
          </a:prstGeom>
          <a:solidFill>
            <a:srgbClr val="EF4444">
              <a:alpha val="80000"/>
            </a:srgbClr>
          </a:solidFill>
        </p:spPr>
      </p:sp>
      <p:sp>
        <p:nvSpPr>
          <p:cNvPr id="36" name="Text 33"/>
          <p:cNvSpPr/>
          <p:nvPr/>
        </p:nvSpPr>
        <p:spPr>
          <a:xfrm>
            <a:off x="8228330" y="1883410"/>
            <a:ext cx="412750" cy="185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✕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800600" y="2175510"/>
            <a:ext cx="1320165" cy="258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PC-Students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379845" y="2175510"/>
            <a:ext cx="1815465" cy="258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→ 192.168.40.10 (Server)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8228330" y="2209800"/>
            <a:ext cx="412750" cy="185420"/>
          </a:xfrm>
          <a:prstGeom prst="roundRect">
            <a:avLst>
              <a:gd name="adj" fmla="val 16667"/>
            </a:avLst>
          </a:prstGeom>
          <a:solidFill>
            <a:srgbClr val="0D9488">
              <a:alpha val="80000"/>
            </a:srgbClr>
          </a:solidFill>
        </p:spPr>
      </p:sp>
      <p:sp>
        <p:nvSpPr>
          <p:cNvPr id="40" name="Text 37"/>
          <p:cNvSpPr/>
          <p:nvPr/>
        </p:nvSpPr>
        <p:spPr>
          <a:xfrm>
            <a:off x="8228330" y="2209800"/>
            <a:ext cx="412750" cy="185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✓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800600" y="2559685"/>
            <a:ext cx="1320165" cy="258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PC-Students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379845" y="2559685"/>
            <a:ext cx="1815465" cy="258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→ 192.168.30.1 (Own GW)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8237855" y="2559685"/>
            <a:ext cx="412750" cy="185420"/>
          </a:xfrm>
          <a:prstGeom prst="roundRect">
            <a:avLst>
              <a:gd name="adj" fmla="val 16667"/>
            </a:avLst>
          </a:prstGeom>
          <a:solidFill>
            <a:srgbClr val="0D9488">
              <a:alpha val="80000"/>
            </a:srgbClr>
          </a:solidFill>
        </p:spPr>
      </p:sp>
      <p:sp>
        <p:nvSpPr>
          <p:cNvPr id="44" name="Text 41"/>
          <p:cNvSpPr/>
          <p:nvPr/>
        </p:nvSpPr>
        <p:spPr>
          <a:xfrm>
            <a:off x="8237855" y="2559685"/>
            <a:ext cx="412750" cy="185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✓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800600" y="2980690"/>
            <a:ext cx="1320165" cy="258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PC-Teachers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379845" y="3014345"/>
            <a:ext cx="1815465" cy="258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→ All VLANs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8237855" y="3053715"/>
            <a:ext cx="412750" cy="185420"/>
          </a:xfrm>
          <a:prstGeom prst="roundRect">
            <a:avLst>
              <a:gd name="adj" fmla="val 16667"/>
            </a:avLst>
          </a:prstGeom>
          <a:solidFill>
            <a:srgbClr val="0D9488">
              <a:alpha val="80000"/>
            </a:srgbClr>
          </a:solidFill>
        </p:spPr>
      </p:sp>
      <p:sp>
        <p:nvSpPr>
          <p:cNvPr id="48" name="Text 45"/>
          <p:cNvSpPr/>
          <p:nvPr/>
        </p:nvSpPr>
        <p:spPr>
          <a:xfrm>
            <a:off x="8237855" y="3053715"/>
            <a:ext cx="412750" cy="185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✓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800600" y="3382645"/>
            <a:ext cx="1320165" cy="258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PC-Admin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379845" y="3382645"/>
            <a:ext cx="1815465" cy="258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→ All VLANs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8228330" y="3382645"/>
            <a:ext cx="412750" cy="185420"/>
          </a:xfrm>
          <a:prstGeom prst="roundRect">
            <a:avLst>
              <a:gd name="adj" fmla="val 16667"/>
            </a:avLst>
          </a:prstGeom>
          <a:solidFill>
            <a:srgbClr val="0D9488">
              <a:alpha val="80000"/>
            </a:srgbClr>
          </a:solidFill>
        </p:spPr>
      </p:sp>
      <p:sp>
        <p:nvSpPr>
          <p:cNvPr id="52" name="Text 49"/>
          <p:cNvSpPr/>
          <p:nvPr/>
        </p:nvSpPr>
        <p:spPr>
          <a:xfrm>
            <a:off x="8228330" y="3382645"/>
            <a:ext cx="412750" cy="185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✓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274320" y="4206240"/>
            <a:ext cx="8595360" cy="749808"/>
          </a:xfrm>
          <a:prstGeom prst="rect">
            <a:avLst/>
          </a:prstGeom>
          <a:solidFill>
            <a:srgbClr val="1C0A0A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274320" y="4206240"/>
            <a:ext cx="54864" cy="74980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55" name="Text 52"/>
          <p:cNvSpPr/>
          <p:nvPr/>
        </p:nvSpPr>
        <p:spPr>
          <a:xfrm>
            <a:off x="411480" y="3931793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</a:rPr>
              <a:t>ACL Result: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1783080" y="42062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Students are completely isolated from Admin and Teacher VLANs while retaining full access to Servers (Moodle + File sharing).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3" name="Shape 1"/>
          <p:cNvSpPr/>
          <p:nvPr/>
        </p:nvSpPr>
        <p:spPr>
          <a:xfrm>
            <a:off x="365760" y="128016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</p:spPr>
      </p:sp>
      <p:sp>
        <p:nvSpPr>
          <p:cNvPr id="4" name="Text 2"/>
          <p:cNvSpPr/>
          <p:nvPr/>
        </p:nvSpPr>
        <p:spPr>
          <a:xfrm>
            <a:off x="365760" y="12801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F"/>
                </a:solidFill>
              </a:rPr>
              <a:t>07 — Web Portals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Web Portals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834640" cy="379476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283464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8" name="Shape 6"/>
          <p:cNvSpPr/>
          <p:nvPr/>
        </p:nvSpPr>
        <p:spPr>
          <a:xfrm>
            <a:off x="393192" y="1115568"/>
            <a:ext cx="640080" cy="640080"/>
          </a:xfrm>
          <a:prstGeom prst="ellipse">
            <a:avLst/>
          </a:prstGeom>
          <a:solidFill>
            <a:srgbClr val="EF4444">
              <a:alpha val="75000"/>
            </a:srgbClr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43584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1430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Portal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3000" y="14813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admin.html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1874520"/>
            <a:ext cx="2560320" cy="256032"/>
          </a:xfrm>
          <a:prstGeom prst="rect">
            <a:avLst/>
          </a:prstGeom>
          <a:solidFill>
            <a:srgbClr val="162F52"/>
          </a:solidFill>
          <a:ln w="508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189280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🔑  admin / admin123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29768" y="2267712"/>
            <a:ext cx="128016" cy="128016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5" name="Text 12"/>
          <p:cNvSpPr/>
          <p:nvPr/>
        </p:nvSpPr>
        <p:spPr>
          <a:xfrm>
            <a:off x="640080" y="22402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Full network dashboard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9768" y="2670048"/>
            <a:ext cx="128016" cy="128016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7" name="Text 14"/>
          <p:cNvSpPr/>
          <p:nvPr/>
        </p:nvSpPr>
        <p:spPr>
          <a:xfrm>
            <a:off x="640080" y="264261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VLAN details &amp; devices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9768" y="3072384"/>
            <a:ext cx="128016" cy="128016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9" name="Text 16"/>
          <p:cNvSpPr/>
          <p:nvPr/>
        </p:nvSpPr>
        <p:spPr>
          <a:xfrm>
            <a:off x="640080" y="30449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ACL rules &amp; results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9768" y="3474720"/>
            <a:ext cx="128016" cy="128016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21" name="Text 18"/>
          <p:cNvSpPr/>
          <p:nvPr/>
        </p:nvSpPr>
        <p:spPr>
          <a:xfrm>
            <a:off x="640080" y="344728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File management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9768" y="3877056"/>
            <a:ext cx="128016" cy="128016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23" name="Text 20"/>
          <p:cNvSpPr/>
          <p:nvPr/>
        </p:nvSpPr>
        <p:spPr>
          <a:xfrm>
            <a:off x="640080" y="384962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Service status panel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29768" y="4279392"/>
            <a:ext cx="128016" cy="128016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25" name="Text 22"/>
          <p:cNvSpPr/>
          <p:nvPr/>
        </p:nvSpPr>
        <p:spPr>
          <a:xfrm>
            <a:off x="640080" y="425196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Links to all portals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18688" y="1005840"/>
            <a:ext cx="2834640" cy="379476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18688" y="1005840"/>
            <a:ext cx="2834640" cy="54864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28" name="Shape 25"/>
          <p:cNvSpPr/>
          <p:nvPr/>
        </p:nvSpPr>
        <p:spPr>
          <a:xfrm>
            <a:off x="3383280" y="1115568"/>
            <a:ext cx="640080" cy="640080"/>
          </a:xfrm>
          <a:prstGeom prst="ellipse">
            <a:avLst/>
          </a:prstGeom>
          <a:solidFill>
            <a:srgbClr val="1D4ED8">
              <a:alpha val="75000"/>
            </a:srgbClr>
          </a:solidFill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243584"/>
            <a:ext cx="384048" cy="38404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133088" y="11430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 Portal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4133088" y="14813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4ED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teacher.html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355848" y="1874520"/>
            <a:ext cx="2560320" cy="256032"/>
          </a:xfrm>
          <a:prstGeom prst="rect">
            <a:avLst/>
          </a:prstGeom>
          <a:solidFill>
            <a:srgbClr val="162F52"/>
          </a:solidFill>
          <a:ln w="5080">
            <a:solidFill>
              <a:srgbClr val="1D4E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401568" y="189280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🔑  teacher / teacher123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3419856" y="2267712"/>
            <a:ext cx="128016" cy="128016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35" name="Text 31"/>
          <p:cNvSpPr/>
          <p:nvPr/>
        </p:nvSpPr>
        <p:spPr>
          <a:xfrm>
            <a:off x="3630168" y="22402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Upload files with metadata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3419856" y="2670048"/>
            <a:ext cx="128016" cy="128016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37" name="Text 33"/>
          <p:cNvSpPr/>
          <p:nvPr/>
        </p:nvSpPr>
        <p:spPr>
          <a:xfrm>
            <a:off x="3630168" y="264261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Set subject &amp; audience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3419856" y="3072384"/>
            <a:ext cx="128016" cy="128016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39" name="Text 35"/>
          <p:cNvSpPr/>
          <p:nvPr/>
        </p:nvSpPr>
        <p:spPr>
          <a:xfrm>
            <a:off x="3630168" y="30449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My-files management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3419856" y="3474720"/>
            <a:ext cx="128016" cy="128016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41" name="Text 37"/>
          <p:cNvSpPr/>
          <p:nvPr/>
        </p:nvSpPr>
        <p:spPr>
          <a:xfrm>
            <a:off x="3630168" y="344728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Upload progress bar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3419856" y="3877056"/>
            <a:ext cx="128016" cy="128016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43" name="Text 39"/>
          <p:cNvSpPr/>
          <p:nvPr/>
        </p:nvSpPr>
        <p:spPr>
          <a:xfrm>
            <a:off x="3630168" y="384962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Moodle LMS button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3419856" y="4279392"/>
            <a:ext cx="128016" cy="128016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45" name="Text 41"/>
          <p:cNvSpPr/>
          <p:nvPr/>
        </p:nvSpPr>
        <p:spPr>
          <a:xfrm>
            <a:off x="3630168" y="425196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Statistics panel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6208776" y="1005840"/>
            <a:ext cx="2834640" cy="3794760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6208776" y="1005840"/>
            <a:ext cx="283464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8" name="Shape 44"/>
          <p:cNvSpPr/>
          <p:nvPr/>
        </p:nvSpPr>
        <p:spPr>
          <a:xfrm>
            <a:off x="6373368" y="1115568"/>
            <a:ext cx="640080" cy="640080"/>
          </a:xfrm>
          <a:prstGeom prst="ellipse">
            <a:avLst/>
          </a:prstGeom>
          <a:solidFill>
            <a:srgbClr val="0D9488">
              <a:alpha val="75000"/>
            </a:srgbClr>
          </a:solidFill>
        </p:spPr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243584"/>
            <a:ext cx="384048" cy="384048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7123176" y="11430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Portal</a:t>
            </a:r>
            <a:endParaRPr lang="en-US" sz="1500" dirty="0"/>
          </a:p>
        </p:txBody>
      </p:sp>
      <p:sp>
        <p:nvSpPr>
          <p:cNvPr id="51" name="Text 46"/>
          <p:cNvSpPr/>
          <p:nvPr/>
        </p:nvSpPr>
        <p:spPr>
          <a:xfrm>
            <a:off x="7123176" y="14813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student.html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6345936" y="1874520"/>
            <a:ext cx="2560320" cy="256032"/>
          </a:xfrm>
          <a:prstGeom prst="rect">
            <a:avLst/>
          </a:prstGeom>
          <a:solidFill>
            <a:srgbClr val="162F52"/>
          </a:solidFill>
          <a:ln w="5080">
            <a:solidFill>
              <a:srgbClr val="0D9488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391656" y="1892808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🔑  student / student123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6409944" y="2267712"/>
            <a:ext cx="128016" cy="128016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55" name="Text 50"/>
          <p:cNvSpPr/>
          <p:nvPr/>
        </p:nvSpPr>
        <p:spPr>
          <a:xfrm>
            <a:off x="6620256" y="22402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Browse available files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6409944" y="2670048"/>
            <a:ext cx="128016" cy="128016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57" name="Text 52"/>
          <p:cNvSpPr/>
          <p:nvPr/>
        </p:nvSpPr>
        <p:spPr>
          <a:xfrm>
            <a:off x="6620256" y="264261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Search &amp; filter by subject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6409944" y="3072384"/>
            <a:ext cx="128016" cy="128016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59" name="Text 54"/>
          <p:cNvSpPr/>
          <p:nvPr/>
        </p:nvSpPr>
        <p:spPr>
          <a:xfrm>
            <a:off x="6620256" y="30449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Download any file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6409944" y="3474720"/>
            <a:ext cx="128016" cy="128016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61" name="Text 56"/>
          <p:cNvSpPr/>
          <p:nvPr/>
        </p:nvSpPr>
        <p:spPr>
          <a:xfrm>
            <a:off x="6620256" y="344728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Cannot upload files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6409944" y="3877056"/>
            <a:ext cx="128016" cy="128016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63" name="Text 58"/>
          <p:cNvSpPr/>
          <p:nvPr/>
        </p:nvSpPr>
        <p:spPr>
          <a:xfrm>
            <a:off x="6620256" y="384962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Moodle LMS button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6409944" y="4279392"/>
            <a:ext cx="128016" cy="128016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65" name="Text 60"/>
          <p:cNvSpPr/>
          <p:nvPr/>
        </p:nvSpPr>
        <p:spPr>
          <a:xfrm>
            <a:off x="6620256" y="425196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Auto-refresh every 10s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228600" y="4846320"/>
            <a:ext cx="8686800" cy="219456"/>
          </a:xfrm>
          <a:prstGeom prst="rect">
            <a:avLst/>
          </a:prstGeom>
          <a:solidFill>
            <a:srgbClr val="162F52"/>
          </a:solidFill>
        </p:spPr>
      </p:sp>
      <p:sp>
        <p:nvSpPr>
          <p:cNvPr id="67" name="Text 62"/>
          <p:cNvSpPr/>
          <p:nvPr/>
        </p:nvSpPr>
        <p:spPr>
          <a:xfrm>
            <a:off x="228600" y="4846320"/>
            <a:ext cx="8686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Unified login page (index.html) routes users to their portal based on credentials  •  Accessible at http://192.168.40.10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Shape 1"/>
          <p:cNvSpPr/>
          <p:nvPr/>
        </p:nvSpPr>
        <p:spPr>
          <a:xfrm>
            <a:off x="365760" y="128016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</p:spPr>
      </p:sp>
      <p:sp>
        <p:nvSpPr>
          <p:cNvPr id="4" name="Text 2"/>
          <p:cNvSpPr/>
          <p:nvPr/>
        </p:nvSpPr>
        <p:spPr>
          <a:xfrm>
            <a:off x="365760" y="12801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6FF"/>
                </a:solidFill>
              </a:rPr>
              <a:t>08 —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Conclusion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1024128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160520" cy="54864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8" name="Shape 6"/>
          <p:cNvSpPr/>
          <p:nvPr/>
        </p:nvSpPr>
        <p:spPr>
          <a:xfrm>
            <a:off x="438912" y="1234440"/>
            <a:ext cx="457200" cy="457200"/>
          </a:xfrm>
          <a:prstGeom prst="ellipse">
            <a:avLst/>
          </a:prstGeom>
          <a:solidFill>
            <a:srgbClr val="1D4ED8">
              <a:alpha val="80000"/>
            </a:srgbClr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114300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VLAN Segmentation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24128" y="1472184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4 isolated VLANs — all devices separated correctly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051560"/>
            <a:ext cx="4160520" cy="1024128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051560"/>
            <a:ext cx="416052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4" name="Shape 11"/>
          <p:cNvSpPr/>
          <p:nvPr/>
        </p:nvSpPr>
        <p:spPr>
          <a:xfrm>
            <a:off x="4828032" y="1234440"/>
            <a:ext cx="457200" cy="457200"/>
          </a:xfrm>
          <a:prstGeom prst="ellipse">
            <a:avLst/>
          </a:prstGeom>
          <a:solidFill>
            <a:srgbClr val="0D9488">
              <a:alpha val="80000"/>
            </a:srgbClr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472" y="132588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13248" y="114300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Inter-VLAN Routing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13248" y="1472184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All VLANs communicate via Router-on-a-Stick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74320" y="2185670"/>
            <a:ext cx="4160520" cy="1024128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4320" y="2185670"/>
            <a:ext cx="416052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0" name="Shape 16"/>
          <p:cNvSpPr/>
          <p:nvPr/>
        </p:nvSpPr>
        <p:spPr>
          <a:xfrm>
            <a:off x="438912" y="2368550"/>
            <a:ext cx="457200" cy="457200"/>
          </a:xfrm>
          <a:prstGeom prst="ellipse">
            <a:avLst/>
          </a:prstGeom>
          <a:solidFill>
            <a:srgbClr val="F59E0B">
              <a:alpha val="80000"/>
            </a:srgbClr>
          </a:solidFill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45999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24128" y="227711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DHCP Assignment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24128" y="2606294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Correct IPs assigned in each VLAN automatically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663440" y="2185670"/>
            <a:ext cx="4160520" cy="1024128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63440" y="2185670"/>
            <a:ext cx="416052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6" name="Shape 21"/>
          <p:cNvSpPr/>
          <p:nvPr/>
        </p:nvSpPr>
        <p:spPr>
          <a:xfrm>
            <a:off x="4828032" y="2368550"/>
            <a:ext cx="457200" cy="457200"/>
          </a:xfrm>
          <a:prstGeom prst="ellipse">
            <a:avLst/>
          </a:prstGeom>
          <a:solidFill>
            <a:srgbClr val="3B82F6">
              <a:alpha val="80000"/>
            </a:srgbClr>
          </a:solidFill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472" y="245999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13248" y="227711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DNS Resolution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13248" y="2606294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school.local resolves internally — 0% internet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274320" y="3319780"/>
            <a:ext cx="4160520" cy="1024128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74320" y="3319780"/>
            <a:ext cx="416052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2" name="Shape 26"/>
          <p:cNvSpPr/>
          <p:nvPr/>
        </p:nvSpPr>
        <p:spPr>
          <a:xfrm>
            <a:off x="438912" y="3502660"/>
            <a:ext cx="457200" cy="457200"/>
          </a:xfrm>
          <a:prstGeom prst="ellipse">
            <a:avLst/>
          </a:prstGeom>
          <a:solidFill>
            <a:srgbClr val="EF4444">
              <a:alpha val="80000"/>
            </a:srgbClr>
          </a:solidFill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59410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24128" y="341122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ACL Enforcement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1024128" y="3740404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Students blocked from Admin/Teacher VLANs — verified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663440" y="3319780"/>
            <a:ext cx="4160520" cy="1024128"/>
          </a:xfrm>
          <a:prstGeom prst="rect">
            <a:avLst/>
          </a:prstGeom>
          <a:solidFill>
            <a:srgbClr val="0F2A4E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663440" y="3319780"/>
            <a:ext cx="4160520" cy="5486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8" name="Shape 31"/>
          <p:cNvSpPr/>
          <p:nvPr/>
        </p:nvSpPr>
        <p:spPr>
          <a:xfrm>
            <a:off x="4828032" y="3502660"/>
            <a:ext cx="457200" cy="457200"/>
          </a:xfrm>
          <a:prstGeom prst="ellipse">
            <a:avLst/>
          </a:prstGeom>
          <a:solidFill>
            <a:srgbClr val="14B8A6">
              <a:alpha val="80000"/>
            </a:srgbClr>
          </a:solidFill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472" y="3594100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413248" y="341122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Moodle LMS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5413248" y="3740404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Full e-learning platform running locally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274320" y="4413250"/>
            <a:ext cx="8595360" cy="502920"/>
          </a:xfrm>
          <a:prstGeom prst="rect">
            <a:avLst/>
          </a:prstGeom>
          <a:solidFill>
            <a:srgbClr val="162F52"/>
          </a:solidFill>
          <a:ln w="63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274320" y="4413250"/>
            <a:ext cx="64008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4" name="Text 36"/>
          <p:cNvSpPr/>
          <p:nvPr/>
        </p:nvSpPr>
        <p:spPr>
          <a:xfrm>
            <a:off x="502920" y="4495546"/>
            <a:ext cx="1188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Conclusion: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1719072" y="4477258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This project proves that a complete, internet-independent educational digital infrastructure — including an LMS — is achievable using open-source tools and standard networking hardware.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1D4ED8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73736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F0F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274320" y="265176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0A5FA"/>
                </a:solidFill>
              </a:rPr>
              <a:t>Questions are welcome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74320" y="3291840"/>
            <a:ext cx="8595360" cy="420624"/>
          </a:xfrm>
          <a:prstGeom prst="rect">
            <a:avLst/>
          </a:prstGeom>
          <a:solidFill>
            <a:srgbClr val="0F2A4E"/>
          </a:solidFill>
          <a:ln w="5080">
            <a:solidFill>
              <a:srgbClr val="1D4E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3291840"/>
            <a:ext cx="45720" cy="42062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Text 7"/>
          <p:cNvSpPr/>
          <p:nvPr/>
        </p:nvSpPr>
        <p:spPr>
          <a:xfrm>
            <a:off x="457200" y="3355848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Project: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600200" y="3355848"/>
            <a:ext cx="7040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Local Network System For Sharing School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3840480"/>
            <a:ext cx="8595360" cy="420624"/>
          </a:xfrm>
          <a:prstGeom prst="rect">
            <a:avLst/>
          </a:prstGeom>
          <a:solidFill>
            <a:srgbClr val="0F2A4E"/>
          </a:solidFill>
          <a:ln w="5080">
            <a:solidFill>
              <a:srgbClr val="1D4E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3840480"/>
            <a:ext cx="45720" cy="42062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4" name="Text 11"/>
          <p:cNvSpPr/>
          <p:nvPr/>
        </p:nvSpPr>
        <p:spPr>
          <a:xfrm>
            <a:off x="457200" y="3904488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Tools: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00200" y="3904488"/>
            <a:ext cx="7040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GNS3  +  Cisco IOS  +  Ubuntu 24.04  +  Moodle 4.4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4389120"/>
            <a:ext cx="8595360" cy="420624"/>
          </a:xfrm>
          <a:prstGeom prst="rect">
            <a:avLst/>
          </a:prstGeom>
          <a:solidFill>
            <a:srgbClr val="0F2A4E"/>
          </a:solidFill>
          <a:ln w="5080">
            <a:solidFill>
              <a:srgbClr val="1D4E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4389120"/>
            <a:ext cx="45720" cy="42062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8" name="Text 15"/>
          <p:cNvSpPr/>
          <p:nvPr/>
        </p:nvSpPr>
        <p:spPr>
          <a:xfrm>
            <a:off x="457200" y="4453128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Domain: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600200" y="4453128"/>
            <a:ext cx="7040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school.local  —  100% Internet-Free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5107</Words>
  <Application>WPS Presentation</Application>
  <PresentationFormat>On-screen Show (16:9)</PresentationFormat>
  <Paragraphs>457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Network System For Sharing School</dc:title>
  <dc:creator>Student Project</dc:creator>
  <dc:subject>PptxGenJS Presentation</dc:subject>
  <cp:lastModifiedBy>PC</cp:lastModifiedBy>
  <cp:revision>3</cp:revision>
  <dcterms:created xsi:type="dcterms:W3CDTF">2026-04-17T12:13:00Z</dcterms:created>
  <dcterms:modified xsi:type="dcterms:W3CDTF">2026-04-17T12:39:12Z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8A94200191414F88991D27000A3DE01A_13</vt:lpwstr>
  </property>
  <property fmtid="{D5CDD505-2E9C-101B-9397-08002B2CF9AE}" pid="3" name="KSOProductBuildVer">
    <vt:lpwstr>1033-12.2.0.23201</vt:lpwstr>
  </property>
</Properties>
</file>